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62" r:id="rId6"/>
    <p:sldId id="264" r:id="rId7"/>
    <p:sldId id="265" r:id="rId8"/>
    <p:sldId id="268" r:id="rId9"/>
    <p:sldId id="269" r:id="rId10"/>
    <p:sldId id="270" r:id="rId11"/>
    <p:sldId id="271" r:id="rId12"/>
    <p:sldId id="266" r:id="rId13"/>
    <p:sldId id="272" r:id="rId14"/>
    <p:sldId id="273" r:id="rId15"/>
    <p:sldId id="274" r:id="rId16"/>
    <p:sldId id="275" r:id="rId17"/>
    <p:sldId id="276" r:id="rId18"/>
    <p:sldId id="277" r:id="rId19"/>
    <p:sldId id="280" r:id="rId20"/>
    <p:sldId id="278" r:id="rId21"/>
    <p:sldId id="27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9" autoAdjust="0"/>
    <p:restoredTop sz="94660"/>
  </p:normalViewPr>
  <p:slideViewPr>
    <p:cSldViewPr snapToGrid="0">
      <p:cViewPr varScale="1">
        <p:scale>
          <a:sx n="39" d="100"/>
          <a:sy n="39" d="100"/>
        </p:scale>
        <p:origin x="36" y="7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Graph illustrating</a:t>
            </a:r>
            <a:r>
              <a:rPr lang="en-US" baseline="0" dirty="0" smtClean="0"/>
              <a:t> churning distribution of customers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Churning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Churned</c:v>
                </c:pt>
                <c:pt idx="1">
                  <c:v>Did not Churn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483</c:v>
                </c:pt>
                <c:pt idx="1">
                  <c:v>2850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13-493C-BBB5-535C57B018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26573615"/>
        <c:axId val="1526574031"/>
      </c:barChart>
      <c:catAx>
        <c:axId val="15265736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6574031"/>
        <c:crosses val="autoZero"/>
        <c:auto val="1"/>
        <c:lblAlgn val="ctr"/>
        <c:lblOffset val="100"/>
        <c:noMultiLvlLbl val="0"/>
      </c:catAx>
      <c:valAx>
        <c:axId val="15265740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65736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8DA7301-E0CA-464C-BE8F-A1381A96981F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76A40153-BAF4-410C-8B60-47CCC2995BAE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3622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A7301-E0CA-464C-BE8F-A1381A96981F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0153-BAF4-410C-8B60-47CCC2995B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7785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A7301-E0CA-464C-BE8F-A1381A96981F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0153-BAF4-410C-8B60-47CCC2995BAE}" type="slidenum">
              <a:rPr lang="en-GB" smtClean="0"/>
              <a:t>‹#›</a:t>
            </a:fld>
            <a:endParaRPr lang="en-GB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5793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A7301-E0CA-464C-BE8F-A1381A96981F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0153-BAF4-410C-8B60-47CCC2995B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0515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A7301-E0CA-464C-BE8F-A1381A96981F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0153-BAF4-410C-8B60-47CCC2995BAE}" type="slidenum">
              <a:rPr lang="en-GB" smtClean="0"/>
              <a:t>‹#›</a:t>
            </a:fld>
            <a:endParaRPr lang="en-GB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7028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A7301-E0CA-464C-BE8F-A1381A96981F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0153-BAF4-410C-8B60-47CCC2995BAE}" type="slidenum">
              <a:rPr lang="en-GB" smtClean="0"/>
              <a:t>‹#›</a:t>
            </a:fld>
            <a:endParaRPr lang="en-GB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0175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A7301-E0CA-464C-BE8F-A1381A96981F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0153-BAF4-410C-8B60-47CCC2995B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554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A7301-E0CA-464C-BE8F-A1381A96981F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0153-BAF4-410C-8B60-47CCC2995BAE}" type="slidenum">
              <a:rPr lang="en-GB" smtClean="0"/>
              <a:t>‹#›</a:t>
            </a:fld>
            <a:endParaRPr lang="en-GB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7197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A7301-E0CA-464C-BE8F-A1381A96981F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0153-BAF4-410C-8B60-47CCC2995B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953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A7301-E0CA-464C-BE8F-A1381A96981F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0153-BAF4-410C-8B60-47CCC2995B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8477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A7301-E0CA-464C-BE8F-A1381A96981F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0153-BAF4-410C-8B60-47CCC2995BAE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1726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A7301-E0CA-464C-BE8F-A1381A96981F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0153-BAF4-410C-8B60-47CCC2995BAE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6629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A7301-E0CA-464C-BE8F-A1381A96981F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0153-BAF4-410C-8B60-47CCC2995B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88565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A7301-E0CA-464C-BE8F-A1381A96981F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0153-BAF4-410C-8B60-47CCC2995BAE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91562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A7301-E0CA-464C-BE8F-A1381A96981F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0153-BAF4-410C-8B60-47CCC2995BAE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880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A7301-E0CA-464C-BE8F-A1381A96981F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0153-BAF4-410C-8B60-47CCC2995BAE}" type="slidenum">
              <a:rPr lang="en-GB" smtClean="0"/>
              <a:t>‹#›</a:t>
            </a:fld>
            <a:endParaRPr lang="en-GB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32847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A7301-E0CA-464C-BE8F-A1381A96981F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40153-BAF4-410C-8B60-47CCC2995BAE}" type="slidenum">
              <a:rPr lang="en-GB" smtClean="0"/>
              <a:t>‹#›</a:t>
            </a:fld>
            <a:endParaRPr lang="en-GB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3347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8DA7301-E0CA-464C-BE8F-A1381A96981F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6A40153-BAF4-410C-8B60-47CCC2995B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5695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 smtClean="0"/>
              <a:t>ChurnGuard</a:t>
            </a:r>
            <a:r>
              <a:rPr lang="en-GB" dirty="0" smtClean="0"/>
              <a:t>: Predicting Customer Exit 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40881"/>
            <a:ext cx="9144000" cy="1655762"/>
          </a:xfrm>
        </p:spPr>
        <p:txBody>
          <a:bodyPr/>
          <a:lstStyle/>
          <a:p>
            <a:r>
              <a:rPr lang="en-GB" dirty="0" smtClean="0"/>
              <a:t>Thomas </a:t>
            </a:r>
            <a:r>
              <a:rPr lang="en-GB" dirty="0" err="1" smtClean="0"/>
              <a:t>Amuti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007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Highlights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 smtClean="0"/>
              <a:t>Project Overview</a:t>
            </a:r>
          </a:p>
          <a:p>
            <a:r>
              <a:rPr lang="en-GB" dirty="0" smtClean="0"/>
              <a:t>Business Understanding</a:t>
            </a:r>
          </a:p>
          <a:p>
            <a:pPr lvl="1"/>
            <a:r>
              <a:rPr lang="en-GB" dirty="0" smtClean="0"/>
              <a:t>Business Problem and Questions</a:t>
            </a:r>
          </a:p>
          <a:p>
            <a:r>
              <a:rPr lang="en-GB" dirty="0" smtClean="0"/>
              <a:t>Data Understanding</a:t>
            </a:r>
          </a:p>
          <a:p>
            <a:r>
              <a:rPr lang="en-GB" dirty="0" smtClean="0"/>
              <a:t>Data Preparation</a:t>
            </a:r>
          </a:p>
          <a:p>
            <a:r>
              <a:rPr lang="en-GB" dirty="0" smtClean="0"/>
              <a:t>Results</a:t>
            </a:r>
          </a:p>
          <a:p>
            <a:r>
              <a:rPr lang="en-GB" dirty="0" smtClean="0"/>
              <a:t>Recommendations</a:t>
            </a:r>
          </a:p>
          <a:p>
            <a:r>
              <a:rPr lang="en-GB" dirty="0" smtClean="0"/>
              <a:t>Limitations and Suggestions for further analysis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1527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Project Overview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Customer churn is a major concern for </a:t>
            </a:r>
            <a:r>
              <a:rPr lang="en-GB" dirty="0" err="1" smtClean="0"/>
              <a:t>SyriaTel</a:t>
            </a:r>
            <a:r>
              <a:rPr lang="en-GB" dirty="0" smtClean="0"/>
              <a:t>, a telecommunication company.</a:t>
            </a:r>
          </a:p>
          <a:p>
            <a:endParaRPr lang="en-GB" dirty="0"/>
          </a:p>
          <a:p>
            <a:r>
              <a:rPr lang="en-GB" dirty="0" smtClean="0"/>
              <a:t>There is however lack of data driven solutions to address this.</a:t>
            </a:r>
          </a:p>
          <a:p>
            <a:endParaRPr lang="en-GB" dirty="0"/>
          </a:p>
          <a:p>
            <a:r>
              <a:rPr lang="en-GB" dirty="0" smtClean="0"/>
              <a:t>Solutions would help </a:t>
            </a:r>
            <a:r>
              <a:rPr lang="en-GB" dirty="0" err="1" smtClean="0"/>
              <a:t>SyriaTel</a:t>
            </a:r>
            <a:r>
              <a:rPr lang="en-GB" dirty="0" smtClean="0"/>
              <a:t> to</a:t>
            </a:r>
            <a:r>
              <a:rPr lang="en-GB" dirty="0" smtClean="0"/>
              <a:t>:</a:t>
            </a:r>
            <a:endParaRPr lang="en-GB" dirty="0" smtClean="0"/>
          </a:p>
          <a:p>
            <a:pPr marL="457200" lvl="1" indent="0">
              <a:buNone/>
            </a:pPr>
            <a:r>
              <a:rPr lang="en-GB" dirty="0" smtClean="0"/>
              <a:t>1. Understand </a:t>
            </a:r>
            <a:r>
              <a:rPr lang="en-GB" dirty="0"/>
              <a:t>the potential revenue impact of customer churn.</a:t>
            </a:r>
          </a:p>
          <a:p>
            <a:pPr marL="457200" lvl="1" indent="0">
              <a:buNone/>
            </a:pPr>
            <a:r>
              <a:rPr lang="en-GB" dirty="0"/>
              <a:t/>
            </a:r>
            <a:br>
              <a:rPr lang="en-GB" dirty="0"/>
            </a:br>
            <a:r>
              <a:rPr lang="en-GB" dirty="0"/>
              <a:t>2. Identify at-risk customers early, enabling proactive retention strategies.</a:t>
            </a:r>
          </a:p>
          <a:p>
            <a:pPr marL="457200" lvl="1" indent="0">
              <a:buNone/>
            </a:pPr>
            <a:r>
              <a:rPr lang="en-GB" dirty="0"/>
              <a:t/>
            </a:r>
            <a:br>
              <a:rPr lang="en-GB" dirty="0"/>
            </a:br>
            <a:r>
              <a:rPr lang="en-GB" dirty="0"/>
              <a:t>3. Gain insights into customer </a:t>
            </a:r>
            <a:r>
              <a:rPr lang="en-GB" dirty="0" smtClean="0"/>
              <a:t>behaviours </a:t>
            </a:r>
            <a:r>
              <a:rPr lang="en-GB" dirty="0"/>
              <a:t>and service factors that influence </a:t>
            </a:r>
            <a:r>
              <a:rPr lang="en-GB" dirty="0" smtClean="0"/>
              <a:t>churn</a:t>
            </a:r>
            <a:r>
              <a:rPr lang="en-GB" dirty="0"/>
              <a:t>.</a:t>
            </a:r>
            <a:endParaRPr lang="en-GB" dirty="0" smtClean="0"/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8578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Business Questions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4637" y="2556932"/>
            <a:ext cx="9601196" cy="331893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 smtClean="0"/>
              <a:t>1. What </a:t>
            </a:r>
            <a:r>
              <a:rPr lang="en-GB" dirty="0"/>
              <a:t>is the estimated revenue at risk from customers who churn?</a:t>
            </a:r>
          </a:p>
          <a:p>
            <a:pPr marL="0" indent="0">
              <a:buNone/>
            </a:pPr>
            <a:r>
              <a:rPr lang="en-GB" dirty="0"/>
              <a:t/>
            </a:r>
            <a:br>
              <a:rPr lang="en-GB" dirty="0"/>
            </a:br>
            <a:r>
              <a:rPr lang="en-GB" dirty="0"/>
              <a:t>2. Can we accurately predict whether a customer will churn? </a:t>
            </a:r>
          </a:p>
          <a:p>
            <a:pPr marL="0" indent="0">
              <a:buNone/>
            </a:pPr>
            <a:r>
              <a:rPr lang="en-GB" dirty="0"/>
              <a:t/>
            </a:r>
            <a:br>
              <a:rPr lang="en-GB" dirty="0"/>
            </a:br>
            <a:r>
              <a:rPr lang="en-GB" dirty="0"/>
              <a:t>3. Which customer </a:t>
            </a:r>
            <a:r>
              <a:rPr lang="en-GB" dirty="0" smtClean="0"/>
              <a:t>behaviours </a:t>
            </a:r>
            <a:r>
              <a:rPr lang="en-GB" dirty="0"/>
              <a:t>and service features are most strongly associated with churn?</a:t>
            </a:r>
          </a:p>
          <a:p>
            <a:pPr marL="0" indent="0">
              <a:buNone/>
            </a:pPr>
            <a:r>
              <a:rPr lang="en-GB" dirty="0"/>
              <a:t/>
            </a:r>
            <a:br>
              <a:rPr lang="en-GB" dirty="0"/>
            </a:b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8031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Data Understanding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 The </a:t>
            </a:r>
            <a:r>
              <a:rPr lang="en-GB" dirty="0" smtClean="0"/>
              <a:t>dataset used to find answers to the business questions</a:t>
            </a:r>
            <a:r>
              <a:rPr lang="en-GB" dirty="0" smtClean="0"/>
              <a:t>:</a:t>
            </a:r>
            <a:endParaRPr lang="en-GB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GB" dirty="0" smtClean="0"/>
              <a:t>Contains </a:t>
            </a:r>
            <a:r>
              <a:rPr lang="en-GB" dirty="0"/>
              <a:t>customer-level data from </a:t>
            </a:r>
            <a:r>
              <a:rPr lang="en-GB" dirty="0" err="1"/>
              <a:t>SyriaTel</a:t>
            </a:r>
            <a:r>
              <a:rPr lang="en-GB" dirty="0"/>
              <a:t> collected over 9 months</a:t>
            </a:r>
            <a:r>
              <a:rPr lang="en-GB" dirty="0" smtClean="0"/>
              <a:t>.</a:t>
            </a:r>
            <a:endParaRPr lang="en-GB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GB" dirty="0" smtClean="0"/>
              <a:t>Each </a:t>
            </a:r>
            <a:r>
              <a:rPr lang="en-GB" dirty="0"/>
              <a:t>row represents a single </a:t>
            </a:r>
            <a:r>
              <a:rPr lang="en-GB" dirty="0" smtClean="0"/>
              <a:t>customer and contains </a:t>
            </a:r>
            <a:r>
              <a:rPr lang="en-GB" dirty="0"/>
              <a:t>21 feature columns and 3333 customer records</a:t>
            </a:r>
            <a:r>
              <a:rPr lang="en-GB" dirty="0" smtClean="0"/>
              <a:t>.</a:t>
            </a:r>
            <a:endParaRPr lang="en-GB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GB" dirty="0" smtClean="0"/>
              <a:t>The features are generally on: 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GB" dirty="0" smtClean="0"/>
              <a:t>Customer usage – How customers used the services.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GB" dirty="0" smtClean="0"/>
              <a:t>Service plans – Types of services customers subscribed to.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GB" dirty="0" smtClean="0"/>
              <a:t>Customer support – Number of customer service calls.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GB" dirty="0" smtClean="0"/>
              <a:t>Administrative features – </a:t>
            </a:r>
            <a:r>
              <a:rPr lang="en-GB" dirty="0" smtClean="0"/>
              <a:t>Such </a:t>
            </a:r>
            <a:r>
              <a:rPr lang="en-GB" dirty="0" smtClean="0"/>
              <a:t>as state and duration which customers had accounts.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GB" dirty="0" smtClean="0"/>
              <a:t>Identifiers – </a:t>
            </a:r>
            <a:r>
              <a:rPr lang="en-GB" dirty="0" smtClean="0"/>
              <a:t>Customer </a:t>
            </a:r>
            <a:r>
              <a:rPr lang="en-GB" dirty="0" smtClean="0"/>
              <a:t>phone number.</a:t>
            </a:r>
            <a:endParaRPr lang="en-GB" dirty="0"/>
          </a:p>
          <a:p>
            <a:pPr lvl="1">
              <a:buFont typeface="Wingdings" panose="05000000000000000000" pitchFamily="2" charset="2"/>
              <a:buChar char="q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978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Data </a:t>
            </a:r>
            <a:r>
              <a:rPr lang="en-GB" dirty="0"/>
              <a:t>P</a:t>
            </a:r>
            <a:r>
              <a:rPr lang="en-GB" dirty="0" smtClean="0"/>
              <a:t>reparation – Used libraries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 smtClean="0"/>
              <a:t>We used several libraries to analyse the dataset</a:t>
            </a:r>
            <a:r>
              <a:rPr lang="en-GB" sz="2400" dirty="0" smtClean="0"/>
              <a:t>:</a:t>
            </a:r>
            <a:endParaRPr lang="en-GB" sz="2400" dirty="0" smtClean="0"/>
          </a:p>
          <a:p>
            <a:pPr marL="781200" lvl="1" indent="-457200">
              <a:buFont typeface="+mj-lt"/>
              <a:buAutoNum type="arabicPeriod"/>
            </a:pPr>
            <a:r>
              <a:rPr lang="en-GB" sz="2200" dirty="0" smtClean="0"/>
              <a:t>Pandas and </a:t>
            </a:r>
            <a:r>
              <a:rPr lang="en-GB" sz="2200" dirty="0" err="1" smtClean="0"/>
              <a:t>numpy</a:t>
            </a:r>
            <a:r>
              <a:rPr lang="en-GB" sz="2200" dirty="0" smtClean="0"/>
              <a:t>- to read our csv files and perform exploratory data analysis</a:t>
            </a:r>
            <a:r>
              <a:rPr lang="en-GB" sz="2200" dirty="0" smtClean="0"/>
              <a:t>.</a:t>
            </a:r>
            <a:endParaRPr lang="en-GB" sz="2200" dirty="0" smtClean="0"/>
          </a:p>
          <a:p>
            <a:pPr marL="781200" lvl="1" indent="-457200">
              <a:buFont typeface="+mj-lt"/>
              <a:buAutoNum type="arabicPeriod"/>
            </a:pPr>
            <a:r>
              <a:rPr lang="en-GB" sz="2200" dirty="0" err="1" smtClean="0"/>
              <a:t>Matplotlib</a:t>
            </a:r>
            <a:r>
              <a:rPr lang="en-GB" sz="2200" dirty="0" smtClean="0"/>
              <a:t> - for visualizations</a:t>
            </a:r>
            <a:r>
              <a:rPr lang="en-GB" sz="2200" dirty="0" smtClean="0"/>
              <a:t>.</a:t>
            </a:r>
            <a:endParaRPr lang="en-GB" sz="2200" dirty="0"/>
          </a:p>
          <a:p>
            <a:pPr marL="781200" lvl="1" indent="-457200">
              <a:buFont typeface="+mj-lt"/>
              <a:buAutoNum type="arabicPeriod"/>
            </a:pPr>
            <a:r>
              <a:rPr lang="en-GB" sz="2200" dirty="0" err="1" smtClean="0"/>
              <a:t>Sklearn</a:t>
            </a:r>
            <a:r>
              <a:rPr lang="en-GB" sz="2200" dirty="0" smtClean="0"/>
              <a:t> – for model fitting and evaluation.</a:t>
            </a:r>
          </a:p>
          <a:p>
            <a:pPr marL="1238400" lvl="2" indent="-457200"/>
            <a:r>
              <a:rPr lang="en-GB" sz="1800" dirty="0" smtClean="0"/>
              <a:t>Logistic Regression – Baseline predictions</a:t>
            </a:r>
          </a:p>
          <a:p>
            <a:pPr marL="1238400" lvl="2" indent="-457200"/>
            <a:r>
              <a:rPr lang="en-GB" sz="1800" dirty="0" smtClean="0"/>
              <a:t>Decision Classifier – </a:t>
            </a:r>
            <a:r>
              <a:rPr lang="en-GB" dirty="0" smtClean="0"/>
              <a:t>To </a:t>
            </a:r>
            <a:r>
              <a:rPr lang="en-GB" sz="1800" dirty="0" smtClean="0"/>
              <a:t>capture </a:t>
            </a:r>
            <a:r>
              <a:rPr lang="en-GB" sz="1800" dirty="0" smtClean="0"/>
              <a:t>complex patterns in dataset</a:t>
            </a:r>
          </a:p>
          <a:p>
            <a:pPr marL="1238400" lvl="2" indent="-457200"/>
            <a:r>
              <a:rPr lang="en-GB" sz="1800" dirty="0" smtClean="0"/>
              <a:t>Random Forest Classifier  - </a:t>
            </a:r>
            <a:r>
              <a:rPr lang="en-GB" dirty="0" smtClean="0"/>
              <a:t>To</a:t>
            </a:r>
            <a:r>
              <a:rPr lang="en-GB" sz="1800" dirty="0" smtClean="0"/>
              <a:t> </a:t>
            </a:r>
            <a:r>
              <a:rPr lang="en-GB" sz="1800" dirty="0" smtClean="0"/>
              <a:t>handle high dimensional data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1935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Data </a:t>
            </a:r>
            <a:r>
              <a:rPr lang="en-GB" dirty="0" smtClean="0"/>
              <a:t>Preparation – Data Cleaning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Prior to data analysis we</a:t>
            </a:r>
            <a:r>
              <a:rPr lang="en-GB" dirty="0" smtClean="0"/>
              <a:t>:</a:t>
            </a:r>
            <a:endParaRPr lang="en-GB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GB" dirty="0" smtClean="0"/>
              <a:t>Selected the needed columns.</a:t>
            </a:r>
          </a:p>
          <a:p>
            <a:pPr lvl="2"/>
            <a:r>
              <a:rPr lang="en-GB" dirty="0" smtClean="0"/>
              <a:t>All the features were retained other than phone number which is a unique identifier with no statistical significance as a predictor.</a:t>
            </a:r>
          </a:p>
          <a:p>
            <a:pPr marL="457200" lvl="1" indent="0">
              <a:buNone/>
            </a:pPr>
            <a:endParaRPr lang="en-GB" dirty="0" smtClean="0"/>
          </a:p>
          <a:p>
            <a:pPr marL="914400" lvl="1" indent="-457200">
              <a:buFont typeface="+mj-lt"/>
              <a:buAutoNum type="arabicPeriod" startAt="2"/>
            </a:pPr>
            <a:r>
              <a:rPr lang="en-GB" dirty="0" smtClean="0"/>
              <a:t>Checked for missing and duplicated data:</a:t>
            </a:r>
          </a:p>
          <a:p>
            <a:pPr lvl="2"/>
            <a:r>
              <a:rPr lang="en-GB" dirty="0" smtClean="0"/>
              <a:t>There were none.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271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Results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There were 483 customers who churned and 2850 who did not.</a:t>
            </a:r>
          </a:p>
          <a:p>
            <a:endParaRPr lang="en-GB" dirty="0"/>
          </a:p>
        </p:txBody>
      </p:sp>
      <p:graphicFrame>
        <p:nvGraphicFramePr>
          <p:cNvPr id="8" name="Chart 7"/>
          <p:cNvGraphicFramePr/>
          <p:nvPr>
            <p:extLst>
              <p:ext uri="{D42A27DB-BD31-4B8C-83A1-F6EECF244321}">
                <p14:modId xmlns:p14="http://schemas.microsoft.com/office/powerpoint/2010/main" val="3495766404"/>
              </p:ext>
            </p:extLst>
          </p:nvPr>
        </p:nvGraphicFramePr>
        <p:xfrm>
          <a:off x="3168072" y="3168073"/>
          <a:ext cx="5407727" cy="31542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39779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Figure </a:t>
            </a:r>
            <a:r>
              <a:rPr lang="en-GB" dirty="0"/>
              <a:t>illustrating the mean values of the numerical </a:t>
            </a:r>
            <a:r>
              <a:rPr lang="en-GB" dirty="0" smtClean="0"/>
              <a:t>features </a:t>
            </a:r>
            <a:r>
              <a:rPr lang="en-GB" dirty="0"/>
              <a:t>of customers </a:t>
            </a:r>
            <a:r>
              <a:rPr lang="en-GB" dirty="0" smtClean="0"/>
              <a:t>irrespective of whether they churned or not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199" y="2495381"/>
            <a:ext cx="7571507" cy="3750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492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Summary findings of </a:t>
            </a:r>
            <a:r>
              <a:rPr lang="en-GB" dirty="0" smtClean="0"/>
              <a:t>the </a:t>
            </a:r>
            <a:r>
              <a:rPr lang="en-GB" dirty="0" smtClean="0"/>
              <a:t>general categorical </a:t>
            </a:r>
            <a:r>
              <a:rPr lang="en-GB" dirty="0" smtClean="0"/>
              <a:t>features irrespective of whether customer churned or not.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most common states were: WV, MN, NY, AL, WI, OH, OR, VA, WY, CT</a:t>
            </a:r>
            <a:r>
              <a:rPr lang="en-GB" dirty="0" smtClean="0"/>
              <a:t>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 smtClean="0"/>
              <a:t>Most </a:t>
            </a:r>
            <a:r>
              <a:rPr lang="en-GB" dirty="0"/>
              <a:t>customers did not have international plan (3010 versus 323</a:t>
            </a:r>
            <a:r>
              <a:rPr lang="en-GB" dirty="0" smtClean="0"/>
              <a:t>).</a:t>
            </a:r>
          </a:p>
          <a:p>
            <a:endParaRPr lang="en-GB" dirty="0"/>
          </a:p>
          <a:p>
            <a:r>
              <a:rPr lang="en-GB" dirty="0" smtClean="0"/>
              <a:t>Most </a:t>
            </a:r>
            <a:r>
              <a:rPr lang="en-GB" dirty="0"/>
              <a:t>customers did not have a voice mail plan (2411 vs 922).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77959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Figure illustrating</a:t>
            </a:r>
            <a:r>
              <a:rPr lang="en-GB" dirty="0" smtClean="0"/>
              <a:t> </a:t>
            </a:r>
            <a:r>
              <a:rPr lang="en-GB" dirty="0" smtClean="0"/>
              <a:t>the </a:t>
            </a:r>
            <a:r>
              <a:rPr lang="en-GB" dirty="0" smtClean="0"/>
              <a:t>mean values of the numerical features </a:t>
            </a:r>
            <a:r>
              <a:rPr lang="en-GB" dirty="0" smtClean="0"/>
              <a:t>of customers who churned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872" y="2439701"/>
            <a:ext cx="9076543" cy="384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091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Estimated </a:t>
            </a:r>
            <a:r>
              <a:rPr lang="en-GB" dirty="0" smtClean="0"/>
              <a:t>Revenue at Risk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 smtClean="0"/>
              <a:t>Charges incurred by those who churned:</a:t>
            </a:r>
          </a:p>
          <a:p>
            <a:pPr marL="457200" lvl="1" indent="0">
              <a:buNone/>
            </a:pPr>
            <a:r>
              <a:rPr lang="en-GB" dirty="0" smtClean="0"/>
              <a:t>1</a:t>
            </a:r>
            <a:r>
              <a:rPr lang="en-GB" dirty="0"/>
              <a:t>. Total day charge = 35.17 +/- 9.25</a:t>
            </a:r>
          </a:p>
          <a:p>
            <a:pPr marL="457200" lvl="1" indent="0">
              <a:buNone/>
            </a:pPr>
            <a:r>
              <a:rPr lang="en-GB" dirty="0"/>
              <a:t/>
            </a:r>
            <a:br>
              <a:rPr lang="en-GB" dirty="0"/>
            </a:br>
            <a:r>
              <a:rPr lang="en-GB" dirty="0"/>
              <a:t>2. Total evening charge = 18.05 +/- 4.31</a:t>
            </a:r>
          </a:p>
          <a:p>
            <a:pPr marL="457200" lvl="1" indent="0">
              <a:buNone/>
            </a:pPr>
            <a:r>
              <a:rPr lang="en-GB" dirty="0"/>
              <a:t/>
            </a:r>
            <a:br>
              <a:rPr lang="en-GB" dirty="0"/>
            </a:br>
            <a:r>
              <a:rPr lang="en-GB" dirty="0"/>
              <a:t>3. Total night charge = 9.23 +/- 2.27</a:t>
            </a:r>
          </a:p>
          <a:p>
            <a:pPr marL="457200" lvl="1" indent="0">
              <a:buNone/>
            </a:pPr>
            <a:r>
              <a:rPr lang="en-GB" dirty="0"/>
              <a:t/>
            </a:r>
            <a:br>
              <a:rPr lang="en-GB" dirty="0"/>
            </a:br>
            <a:r>
              <a:rPr lang="en-GB" dirty="0"/>
              <a:t>4. Total international charge = 2.88 +/- </a:t>
            </a:r>
            <a:r>
              <a:rPr lang="en-GB" dirty="0" smtClean="0"/>
              <a:t>0.75</a:t>
            </a:r>
          </a:p>
          <a:p>
            <a:pPr marL="457200" lvl="1" indent="0">
              <a:buNone/>
            </a:pPr>
            <a:endParaRPr lang="en-GB" dirty="0" smtClean="0"/>
          </a:p>
          <a:p>
            <a:r>
              <a:rPr lang="en-GB" dirty="0" smtClean="0"/>
              <a:t>Total of charges = 65.33 U.S dollars. </a:t>
            </a:r>
          </a:p>
          <a:p>
            <a:r>
              <a:rPr lang="en-GB" dirty="0" smtClean="0"/>
              <a:t>For a  total of 483 customers over 9 months duration =  31554.39 dollars.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3223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Figure i</a:t>
            </a:r>
            <a:r>
              <a:rPr lang="en-GB" dirty="0" smtClean="0"/>
              <a:t>llustrating the mean values of the </a:t>
            </a:r>
            <a:r>
              <a:rPr lang="en-GB" dirty="0"/>
              <a:t>numerical </a:t>
            </a:r>
            <a:r>
              <a:rPr lang="en-GB" dirty="0" smtClean="0"/>
              <a:t>features </a:t>
            </a:r>
            <a:r>
              <a:rPr lang="en-GB" dirty="0"/>
              <a:t>of customers who </a:t>
            </a:r>
            <a:r>
              <a:rPr lang="en-GB" dirty="0" smtClean="0"/>
              <a:t>did not churn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184" y="2617372"/>
            <a:ext cx="8607631" cy="364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968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Figures i</a:t>
            </a:r>
            <a:r>
              <a:rPr lang="en-GB" dirty="0" smtClean="0"/>
              <a:t>llustrating </a:t>
            </a:r>
            <a:r>
              <a:rPr lang="en-GB" dirty="0"/>
              <a:t>the 10 most common states for both Churn vs Non-Churn groups</a:t>
            </a:r>
            <a:br>
              <a:rPr lang="en-GB" dirty="0"/>
            </a:b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709" y="2595399"/>
            <a:ext cx="5221197" cy="348212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595400"/>
            <a:ext cx="5308877" cy="3482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007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523" y="173144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Figures illustrating the </a:t>
            </a:r>
            <a:r>
              <a:rPr lang="en-GB" dirty="0"/>
              <a:t>differences in 'international plan' and 'voice mail plan' between the churn and non churn groups.</a:t>
            </a:r>
            <a:br>
              <a:rPr lang="en-GB" dirty="0"/>
            </a:br>
            <a:r>
              <a:rPr lang="en-GB" dirty="0"/>
              <a:t/>
            </a:r>
            <a:br>
              <a:rPr lang="en-GB" dirty="0"/>
            </a:br>
            <a:r>
              <a:rPr lang="en-GB" dirty="0"/>
              <a:t/>
            </a:r>
            <a:br>
              <a:rPr lang="en-GB" dirty="0"/>
            </a:b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2502" y="2523776"/>
            <a:ext cx="8731642" cy="3590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40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Model Results (Accuracy)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14350" indent="-514350">
              <a:buAutoNum type="arabicPeriod"/>
            </a:pPr>
            <a:r>
              <a:rPr lang="en-GB" dirty="0" smtClean="0"/>
              <a:t>Logistic </a:t>
            </a:r>
            <a:r>
              <a:rPr lang="en-GB" dirty="0"/>
              <a:t>Regression - 0.86 (Testing), 0.87 (</a:t>
            </a:r>
            <a:r>
              <a:rPr lang="en-GB" dirty="0" smtClean="0"/>
              <a:t>Training)</a:t>
            </a:r>
          </a:p>
          <a:p>
            <a:pPr lvl="1"/>
            <a:r>
              <a:rPr lang="en-GB" dirty="0"/>
              <a:t>L</a:t>
            </a:r>
            <a:r>
              <a:rPr lang="en-GB" dirty="0" smtClean="0"/>
              <a:t>ess </a:t>
            </a:r>
            <a:r>
              <a:rPr lang="en-GB" dirty="0"/>
              <a:t>accurate possibly because it missed out on capturing non-linear </a:t>
            </a:r>
            <a:r>
              <a:rPr lang="en-GB" dirty="0" smtClean="0"/>
              <a:t>patterns.</a:t>
            </a:r>
          </a:p>
          <a:p>
            <a:pPr lvl="1"/>
            <a:r>
              <a:rPr lang="en-GB" dirty="0" smtClean="0"/>
              <a:t>Generalized </a:t>
            </a:r>
            <a:r>
              <a:rPr lang="en-GB" dirty="0"/>
              <a:t>well and </a:t>
            </a:r>
            <a:r>
              <a:rPr lang="en-GB" dirty="0" smtClean="0"/>
              <a:t>did </a:t>
            </a:r>
            <a:r>
              <a:rPr lang="en-GB" dirty="0" smtClean="0"/>
              <a:t>not over-fit </a:t>
            </a:r>
            <a:r>
              <a:rPr lang="en-GB" dirty="0"/>
              <a:t>since the accuracy scores for training and testing datasets </a:t>
            </a:r>
            <a:r>
              <a:rPr lang="en-GB" dirty="0" smtClean="0"/>
              <a:t>were </a:t>
            </a:r>
            <a:r>
              <a:rPr lang="en-GB" dirty="0"/>
              <a:t>almost the same</a:t>
            </a:r>
            <a:r>
              <a:rPr lang="en-GB" dirty="0" smtClean="0"/>
              <a:t>.</a:t>
            </a:r>
            <a:endParaRPr lang="en-GB" dirty="0"/>
          </a:p>
          <a:p>
            <a:pPr marL="0" indent="0">
              <a:buNone/>
            </a:pPr>
            <a:r>
              <a:rPr lang="en-GB" dirty="0"/>
              <a:t/>
            </a:r>
            <a:br>
              <a:rPr lang="en-GB" dirty="0"/>
            </a:br>
            <a:r>
              <a:rPr lang="en-GB" dirty="0"/>
              <a:t>2. Decision Classifier - 0.91 (Testing), 0.87 (Training</a:t>
            </a:r>
            <a:r>
              <a:rPr lang="en-GB" dirty="0" smtClean="0"/>
              <a:t>)</a:t>
            </a:r>
          </a:p>
          <a:p>
            <a:pPr lvl="1"/>
            <a:r>
              <a:rPr lang="en-GB" dirty="0" smtClean="0"/>
              <a:t>More </a:t>
            </a:r>
            <a:r>
              <a:rPr lang="en-GB" dirty="0"/>
              <a:t>accurate for testing data </a:t>
            </a:r>
            <a:r>
              <a:rPr lang="en-GB" dirty="0" smtClean="0"/>
              <a:t>than Logistic Regression.</a:t>
            </a:r>
          </a:p>
          <a:p>
            <a:pPr lvl="1"/>
            <a:r>
              <a:rPr lang="en-GB" dirty="0" smtClean="0"/>
              <a:t>Testing </a:t>
            </a:r>
            <a:r>
              <a:rPr lang="en-GB" dirty="0"/>
              <a:t>accuracy was higher than the training accuracy. This could </a:t>
            </a:r>
            <a:r>
              <a:rPr lang="en-GB" dirty="0" smtClean="0"/>
              <a:t>have been due </a:t>
            </a:r>
            <a:r>
              <a:rPr lang="en-GB" dirty="0"/>
              <a:t>to random variation in the split</a:t>
            </a:r>
            <a:r>
              <a:rPr lang="en-GB" dirty="0" smtClean="0"/>
              <a:t>.</a:t>
            </a:r>
            <a:endParaRPr lang="en-GB" dirty="0"/>
          </a:p>
          <a:p>
            <a:pPr marL="0" indent="0">
              <a:buNone/>
            </a:pPr>
            <a:r>
              <a:rPr lang="en-GB" dirty="0"/>
              <a:t/>
            </a:r>
            <a:br>
              <a:rPr lang="en-GB" dirty="0"/>
            </a:br>
            <a:r>
              <a:rPr lang="en-GB" dirty="0"/>
              <a:t>3. Random Forest Classifier - 0.94 (Testing), 0.87 (Training</a:t>
            </a:r>
            <a:r>
              <a:rPr lang="en-GB" dirty="0" smtClean="0"/>
              <a:t>)</a:t>
            </a:r>
          </a:p>
          <a:p>
            <a:pPr lvl="1"/>
            <a:r>
              <a:rPr lang="en-GB" dirty="0" smtClean="0"/>
              <a:t>Best generalization.</a:t>
            </a:r>
          </a:p>
          <a:p>
            <a:pPr lvl="1"/>
            <a:r>
              <a:rPr lang="en-GB" dirty="0" smtClean="0"/>
              <a:t>Has </a:t>
            </a:r>
            <a:r>
              <a:rPr lang="en-GB" dirty="0"/>
              <a:t>a higher testing accuracy than </a:t>
            </a:r>
            <a:r>
              <a:rPr lang="en-GB" dirty="0" smtClean="0"/>
              <a:t>training accuracy, </a:t>
            </a:r>
            <a:r>
              <a:rPr lang="en-GB" dirty="0"/>
              <a:t>indicating possible data split </a:t>
            </a:r>
            <a:r>
              <a:rPr lang="en-GB" dirty="0" smtClean="0"/>
              <a:t>randomness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0713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Model Results – ROC/ AUC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23" y="2463530"/>
            <a:ext cx="3438236" cy="344714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759" y="2463530"/>
            <a:ext cx="3678359" cy="368788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5118" y="2463530"/>
            <a:ext cx="3678359" cy="3687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884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Key </a:t>
            </a:r>
            <a:r>
              <a:rPr lang="en-GB" dirty="0" smtClean="0"/>
              <a:t>features in predicting customer churn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From the </a:t>
            </a:r>
            <a:r>
              <a:rPr lang="en-GB" dirty="0"/>
              <a:t>Two Best Models (Decision Tree vs Random Forest</a:t>
            </a:r>
            <a:r>
              <a:rPr lang="en-GB" dirty="0" smtClean="0"/>
              <a:t>), key features were: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GB" dirty="0"/>
              <a:t>T</a:t>
            </a:r>
            <a:r>
              <a:rPr lang="en-GB" dirty="0" smtClean="0"/>
              <a:t>otal </a:t>
            </a:r>
            <a:r>
              <a:rPr lang="en-GB" dirty="0"/>
              <a:t>day charge, total day </a:t>
            </a:r>
            <a:r>
              <a:rPr lang="en-GB" dirty="0" smtClean="0"/>
              <a:t>minutes,</a:t>
            </a:r>
            <a:r>
              <a:rPr lang="en-GB" dirty="0"/>
              <a:t> total eve charge, total eve minutes, total </a:t>
            </a:r>
            <a:r>
              <a:rPr lang="en-GB" dirty="0" smtClean="0"/>
              <a:t>international </a:t>
            </a:r>
            <a:r>
              <a:rPr lang="en-GB" dirty="0"/>
              <a:t>charge, total </a:t>
            </a:r>
            <a:r>
              <a:rPr lang="en-GB" dirty="0" smtClean="0"/>
              <a:t>international; </a:t>
            </a:r>
            <a:r>
              <a:rPr lang="en-GB" dirty="0"/>
              <a:t>calls, total night charge. </a:t>
            </a:r>
            <a:endParaRPr lang="en-GB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GB" dirty="0"/>
              <a:t>C</a:t>
            </a:r>
            <a:r>
              <a:rPr lang="en-GB" dirty="0" smtClean="0"/>
              <a:t>ustomer </a:t>
            </a:r>
            <a:r>
              <a:rPr lang="en-GB" dirty="0"/>
              <a:t>service calls, international </a:t>
            </a:r>
            <a:r>
              <a:rPr lang="en-GB" dirty="0" err="1" smtClean="0"/>
              <a:t>plan_yes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4932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Recommendations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2" y="2603114"/>
            <a:ext cx="9601196" cy="3318936"/>
          </a:xfrm>
        </p:spPr>
        <p:txBody>
          <a:bodyPr/>
          <a:lstStyle/>
          <a:p>
            <a:r>
              <a:rPr lang="en-GB" dirty="0" smtClean="0"/>
              <a:t>An approximate 16% of customers churned and </a:t>
            </a:r>
            <a:r>
              <a:rPr lang="en-GB" dirty="0"/>
              <a:t>31554.39 dollars </a:t>
            </a:r>
            <a:r>
              <a:rPr lang="en-GB" dirty="0" smtClean="0"/>
              <a:t>were lost. </a:t>
            </a:r>
          </a:p>
          <a:p>
            <a:endParaRPr lang="en-GB" dirty="0"/>
          </a:p>
          <a:p>
            <a:r>
              <a:rPr lang="en-GB" dirty="0" smtClean="0"/>
              <a:t>To avoid this, we recommend:</a:t>
            </a:r>
          </a:p>
          <a:p>
            <a:pPr lvl="1"/>
            <a:r>
              <a:rPr lang="en-GB" dirty="0" smtClean="0"/>
              <a:t>1. Using the Random Forest Classifier method to predict customer churn.</a:t>
            </a:r>
          </a:p>
          <a:p>
            <a:pPr lvl="1"/>
            <a:r>
              <a:rPr lang="en-GB" dirty="0" smtClean="0"/>
              <a:t>2. Focusing on the aforementioned key features.</a:t>
            </a:r>
          </a:p>
          <a:p>
            <a:pPr lvl="1"/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1969647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Limitations of the dataset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Limited time </a:t>
            </a:r>
            <a:r>
              <a:rPr lang="en-GB" dirty="0" smtClean="0"/>
              <a:t>frame:</a:t>
            </a:r>
          </a:p>
          <a:p>
            <a:pPr lvl="1"/>
            <a:r>
              <a:rPr lang="en-GB" dirty="0" smtClean="0"/>
              <a:t>The dataset </a:t>
            </a:r>
            <a:r>
              <a:rPr lang="en-GB" dirty="0" smtClean="0"/>
              <a:t>was</a:t>
            </a:r>
            <a:r>
              <a:rPr lang="en-GB" dirty="0" smtClean="0"/>
              <a:t> </a:t>
            </a:r>
            <a:r>
              <a:rPr lang="en-GB" dirty="0" smtClean="0"/>
              <a:t>collected over a short period, which may not capture seasonal or long-term usage patterns.</a:t>
            </a:r>
            <a:endParaRPr lang="en-GB" dirty="0"/>
          </a:p>
          <a:p>
            <a:r>
              <a:rPr lang="en-GB" dirty="0" smtClean="0"/>
              <a:t>Class imbalance:</a:t>
            </a:r>
          </a:p>
          <a:p>
            <a:pPr lvl="1"/>
            <a:r>
              <a:rPr lang="en-GB" dirty="0" smtClean="0"/>
              <a:t>The </a:t>
            </a:r>
            <a:r>
              <a:rPr lang="en-GB" dirty="0"/>
              <a:t>number of churned customers </a:t>
            </a:r>
            <a:r>
              <a:rPr lang="en-GB" dirty="0" smtClean="0"/>
              <a:t>was </a:t>
            </a:r>
            <a:r>
              <a:rPr lang="en-GB" dirty="0" smtClean="0"/>
              <a:t>much </a:t>
            </a:r>
            <a:r>
              <a:rPr lang="en-GB" dirty="0"/>
              <a:t>smaller than non-churned, which can affect model performance and bias predictions toward the majority class.</a:t>
            </a:r>
          </a:p>
          <a:p>
            <a:r>
              <a:rPr lang="en-GB" dirty="0" smtClean="0"/>
              <a:t>Geographic bias:</a:t>
            </a:r>
          </a:p>
          <a:p>
            <a:pPr lvl="1"/>
            <a:r>
              <a:rPr lang="en-GB" dirty="0" smtClean="0"/>
              <a:t>States </a:t>
            </a:r>
            <a:r>
              <a:rPr lang="en-GB" dirty="0"/>
              <a:t>are included, but the dataset may not represent the full national population or capture regional variations accurately.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6048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Suggestions for further analysis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Adding more customer attributes: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 smtClean="0"/>
              <a:t>Demographics</a:t>
            </a:r>
            <a:r>
              <a:rPr lang="en-GB" dirty="0"/>
              <a:t>: age, gender, income, occupation.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 smtClean="0"/>
              <a:t>Subscription </a:t>
            </a:r>
            <a:r>
              <a:rPr lang="en-GB" dirty="0"/>
              <a:t>details: contract type, tenure, plan changes, add-ons.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 smtClean="0"/>
              <a:t>Service </a:t>
            </a:r>
            <a:r>
              <a:rPr lang="en-GB" dirty="0"/>
              <a:t>quality metrics: dropped calls, network coverage, complaint history</a:t>
            </a:r>
            <a:r>
              <a:rPr lang="en-GB" dirty="0" smtClean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GB" dirty="0"/>
          </a:p>
          <a:p>
            <a:r>
              <a:rPr lang="en-GB" dirty="0" smtClean="0"/>
              <a:t>Increasing dataset </a:t>
            </a:r>
            <a:r>
              <a:rPr lang="en-GB" dirty="0"/>
              <a:t>size and diversity</a:t>
            </a:r>
            <a:r>
              <a:rPr lang="en-GB" dirty="0" smtClean="0"/>
              <a:t>:</a:t>
            </a:r>
            <a:endParaRPr lang="en-GB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 smtClean="0"/>
              <a:t>Collect </a:t>
            </a:r>
            <a:r>
              <a:rPr lang="en-GB" dirty="0"/>
              <a:t>data across multiple time periods and regions to improve model generalization.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 smtClean="0"/>
              <a:t>Balance </a:t>
            </a:r>
            <a:r>
              <a:rPr lang="en-GB" dirty="0"/>
              <a:t>the dataset better between churned and non-churned customers to reduce class imbalance.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5378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106</TotalTime>
  <Words>699</Words>
  <Application>Microsoft Office PowerPoint</Application>
  <PresentationFormat>Widescreen</PresentationFormat>
  <Paragraphs>110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Garamond</vt:lpstr>
      <vt:lpstr>Wingdings</vt:lpstr>
      <vt:lpstr>Organic</vt:lpstr>
      <vt:lpstr>ChurnGuard: Predicting Customer Exit </vt:lpstr>
      <vt:lpstr>Highlights</vt:lpstr>
      <vt:lpstr>Project Overview</vt:lpstr>
      <vt:lpstr>Business Questions</vt:lpstr>
      <vt:lpstr>Data Understanding</vt:lpstr>
      <vt:lpstr>Data Preparation – Used libraries</vt:lpstr>
      <vt:lpstr>Data Preparation – Data Cleaning </vt:lpstr>
      <vt:lpstr>Results</vt:lpstr>
      <vt:lpstr>Figure illustrating the mean values of the numerical features of customers irrespective of whether they churned or not</vt:lpstr>
      <vt:lpstr>Summary findings of the general categorical features irrespective of whether customer churned or not.</vt:lpstr>
      <vt:lpstr>Figure illustrating the mean values of the numerical features of customers who churned</vt:lpstr>
      <vt:lpstr>Estimated Revenue at Risk</vt:lpstr>
      <vt:lpstr>Figure illustrating the mean values of the numerical features of customers who did not churn</vt:lpstr>
      <vt:lpstr>Figures illustrating the 10 most common states for both Churn vs Non-Churn groups </vt:lpstr>
      <vt:lpstr>Figures illustrating the differences in 'international plan' and 'voice mail plan' between the churn and non churn groups.   </vt:lpstr>
      <vt:lpstr>Model Results (Accuracy)</vt:lpstr>
      <vt:lpstr>Model Results – ROC/ AUC</vt:lpstr>
      <vt:lpstr>Key features in predicting customer churn</vt:lpstr>
      <vt:lpstr>Recommendations</vt:lpstr>
      <vt:lpstr>Limitations of the dataset </vt:lpstr>
      <vt:lpstr>Suggestions for further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ChurnGuard: Predicting Customer Exit</dc:title>
  <dc:creator>PC</dc:creator>
  <cp:lastModifiedBy>PC</cp:lastModifiedBy>
  <cp:revision>32</cp:revision>
  <dcterms:created xsi:type="dcterms:W3CDTF">2026-02-11T20:27:21Z</dcterms:created>
  <dcterms:modified xsi:type="dcterms:W3CDTF">2026-02-12T13:13:23Z</dcterms:modified>
</cp:coreProperties>
</file>